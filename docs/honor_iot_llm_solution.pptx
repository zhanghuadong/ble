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600012" cy="5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6623999" y="-540000"/>
            <a:ext cx="3240000" cy="3240000"/>
          </a:xfrm>
          <a:prstGeom prst="arc">
            <a:avLst/>
          </a:prstGeom>
          <a:ln w="2032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5688000" cy="86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2203B"/>
                </a:solidFill>
                <a:latin typeface="Microsoft YaHei"/>
              </a:rPr>
              <a:t>荣耀智慧空间 App
授权中枢与 LLM 控制 IoT 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800" y="1278000"/>
            <a:ext cx="576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Microsoft YaHei"/>
              </a:rPr>
              <a:t>HONOR Connect SDK · Node MCP Server · ESP32-S3 · 本地 IoT 设备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4000" y="2556000"/>
            <a:ext cx="450000" cy="756000"/>
          </a:xfrm>
          <a:prstGeom prst="roundRect">
            <a:avLst/>
          </a:prstGeom>
          <a:solidFill>
            <a:srgbClr val="FFFFFF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8800" y="2656800"/>
            <a:ext cx="324000" cy="486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1200" y="3175200"/>
            <a:ext cx="79200" cy="7920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0000" y="3330000"/>
            <a:ext cx="1116000" cy="316800"/>
          </a:xfrm>
          <a:prstGeom prst="round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荣耀智慧空间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2000" y="3491999"/>
            <a:ext cx="450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10000" y="2718000"/>
            <a:ext cx="612000" cy="45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10800" y="2923200"/>
            <a:ext cx="64800" cy="6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61999" y="2923200"/>
            <a:ext cx="64800" cy="6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13200" y="2923200"/>
            <a:ext cx="64800" cy="6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76000" y="3330000"/>
            <a:ext cx="1116000" cy="3168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中枢 / SDK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28000" y="3491999"/>
            <a:ext cx="414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30000" y="2556000"/>
            <a:ext cx="612000" cy="1368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16000" y="2595600"/>
            <a:ext cx="46800" cy="4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30000" y="2728800"/>
            <a:ext cx="612000" cy="1368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16000" y="2768400"/>
            <a:ext cx="46800" cy="4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30000" y="2901600"/>
            <a:ext cx="612000" cy="1368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16000" y="2941200"/>
            <a:ext cx="46800" cy="4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96000" y="3330000"/>
            <a:ext cx="1116000" cy="3168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MCP Server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48000" y="3491999"/>
            <a:ext cx="414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922000" y="2628000"/>
            <a:ext cx="468000" cy="46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7200" y="2743200"/>
            <a:ext cx="237600" cy="23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7200" y="2681999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82800" y="2681999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57200" y="27828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82800" y="27828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57200" y="28836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82800" y="28836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7200" y="29844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82800" y="29844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16000" y="3330000"/>
            <a:ext cx="1116000" cy="3168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ESP32-S3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68000" y="3491999"/>
            <a:ext cx="414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560000" y="2556000"/>
            <a:ext cx="432000" cy="432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78800" y="2952000"/>
            <a:ext cx="194400" cy="151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36000" y="3330000"/>
            <a:ext cx="1116000" cy="3168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IoT 设备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24000" y="1818000"/>
            <a:ext cx="1512000" cy="360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大语言模型入口</a:t>
            </a:r>
          </a:p>
        </p:txBody>
      </p:sp>
      <p:sp>
        <p:nvSpPr>
          <p:cNvPr id="40" name="Cloud 39"/>
          <p:cNvSpPr/>
          <p:nvPr/>
        </p:nvSpPr>
        <p:spPr>
          <a:xfrm>
            <a:off x="3330000" y="1782000"/>
            <a:ext cx="684000" cy="432000"/>
          </a:xfrm>
          <a:prstGeom prst="cloud">
            <a:avLst/>
          </a:prstGeom>
          <a:solidFill>
            <a:srgbClr val="12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66800" y="1907999"/>
            <a:ext cx="43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LLM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4572000" y="2188800"/>
            <a:ext cx="108000" cy="1130400"/>
          </a:xfrm>
          <a:prstGeom prst="line">
            <a:avLst/>
          </a:prstGeom>
          <a:ln w="31750">
            <a:solidFill>
              <a:srgbClr val="12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78000" y="4752000"/>
            <a:ext cx="72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icrosoft YaHei"/>
              </a:rPr>
              <a:t>目标：让荣耀智慧空间完成用户授权与入口控制，让中枢统一管理 IoT，并让 LLM 通过受控工具安全操作设备。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954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03B"/>
                </a:solidFill>
                <a:latin typeface="Microsoft YaHei"/>
              </a:rPr>
              <a:t>1. 需求拆解：三个入口，一个控制核心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558000"/>
            <a:ext cx="882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把荣耀 App、IoT 控制和大语言模型能力收敛到同一套中枢控制面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784800"/>
            <a:ext cx="720000" cy="288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080000"/>
            <a:ext cx="3420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荣耀智慧空间 App：负责用户侧授权、绑定、控制入口和场景入口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中枢：负责权限、设备模型、命令总线、协议转换和状态同步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LLM：通过 MCP / Function Calling 调用中枢工具，不直接触碰硬件</a:t>
            </a:r>
          </a:p>
          <a:p>
            <a:pPr>
              <a:spcAft>
                <a:spcPts val="7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IoT 设备：由 ESP32-S3 或其他本地总线执行最终动作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000" y="1080000"/>
            <a:ext cx="1440000" cy="396000"/>
          </a:xfrm>
          <a:prstGeom prst="round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授权入口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80000" y="2196000"/>
            <a:ext cx="1440000" cy="3960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自然语言入口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0000" y="3311999"/>
            <a:ext cx="1440000" cy="3960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自动化入口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196000"/>
            <a:ext cx="1512000" cy="432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中枢控制核心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0000" y="1278000"/>
            <a:ext cx="1043999" cy="11340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20000" y="2394000"/>
            <a:ext cx="1043999" cy="180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120000" y="2412000"/>
            <a:ext cx="1043999" cy="10980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72000" y="3384000"/>
            <a:ext cx="1368000" cy="3420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IoT 执行层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6000" y="2628000"/>
            <a:ext cx="0" cy="7380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856000" y="5202000"/>
            <a:ext cx="79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954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03B"/>
                </a:solidFill>
                <a:latin typeface="Microsoft YaHei"/>
              </a:rPr>
              <a:t>2. 推荐总体架构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558000"/>
            <a:ext cx="882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所有控制请求统一进入中枢，避免权限、日志和状态分裂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784800"/>
            <a:ext cx="720000" cy="288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2000" y="1440000"/>
            <a:ext cx="450000" cy="756000"/>
          </a:xfrm>
          <a:prstGeom prst="roundRect">
            <a:avLst/>
          </a:prstGeom>
          <a:solidFill>
            <a:srgbClr val="FFFFFF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6800" y="1540800"/>
            <a:ext cx="324000" cy="486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9200" y="2059200"/>
            <a:ext cx="79200" cy="7920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4000" y="2232000"/>
            <a:ext cx="1530000" cy="486000"/>
          </a:xfrm>
          <a:prstGeom prst="round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荣耀智慧空间 App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2000" y="2476800"/>
            <a:ext cx="234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20000" y="1602000"/>
            <a:ext cx="612000" cy="45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20800" y="1807200"/>
            <a:ext cx="64800" cy="6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71999" y="1807200"/>
            <a:ext cx="64800" cy="6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23200" y="1807200"/>
            <a:ext cx="64800" cy="6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42000" y="2232000"/>
            <a:ext cx="1530000" cy="4860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中枢
HONOR Connect SDK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90000" y="2476800"/>
            <a:ext cx="305999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09999" y="1440000"/>
            <a:ext cx="612000" cy="1368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5999" y="1479600"/>
            <a:ext cx="46800" cy="4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9999" y="1612800"/>
            <a:ext cx="612000" cy="1368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95999" y="1652400"/>
            <a:ext cx="46800" cy="4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09999" y="1785600"/>
            <a:ext cx="612000" cy="1368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5999" y="1825200"/>
            <a:ext cx="46800" cy="4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31999" y="2232000"/>
            <a:ext cx="1530000" cy="4860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Node MCP Server
工具与协议适配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79999" y="2476800"/>
            <a:ext cx="306001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372000" y="1512000"/>
            <a:ext cx="468000" cy="46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87200" y="1627200"/>
            <a:ext cx="237600" cy="23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7200" y="1565999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32800" y="1565999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7200" y="16668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32800" y="16668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7200" y="17676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32800" y="17676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7200" y="18684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32800" y="18684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22000" y="2232000"/>
            <a:ext cx="1530000" cy="4860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ESP32-S3
硬件执行节点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70000" y="2476800"/>
            <a:ext cx="126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100000" y="1440000"/>
            <a:ext cx="432000" cy="432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18800" y="1836000"/>
            <a:ext cx="194400" cy="151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32000" y="2232000"/>
            <a:ext cx="1530000" cy="4860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IoT 设备
灯/窗帘/传感器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24000" y="1007999"/>
            <a:ext cx="1728000" cy="396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大语言模型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788000" y="1404000"/>
            <a:ext cx="0" cy="810000"/>
          </a:xfrm>
          <a:prstGeom prst="line">
            <a:avLst/>
          </a:prstGeom>
          <a:ln w="25400">
            <a:solidFill>
              <a:srgbClr val="12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96000" y="3276000"/>
            <a:ext cx="259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6000" y="3276000"/>
            <a:ext cx="43200" cy="792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999" y="3366000"/>
            <a:ext cx="2394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关键原则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荣耀 App 与 LLM 都是入口；真正的权限校验、设备状态和命令执行必须在中枢统一处理。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28000" y="3276000"/>
            <a:ext cx="259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28000" y="3276000"/>
            <a:ext cx="43200" cy="792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3999" y="3366000"/>
            <a:ext cx="2394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协议建议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中枢到 Node 可用 HTTP/WebSocket/JSON-RPC；Node 到 ESP32-S3 优先 MQTT，其次 WebSocket/HTTP/RS485。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23999" y="3276000"/>
            <a:ext cx="2520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23999" y="3276000"/>
            <a:ext cx="43200" cy="79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49998" y="3366000"/>
            <a:ext cx="2322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扩展方向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后续可增加 Zigbee、BLE、Matter、Modbus 网关，仍通过同一设备模型暴露给荣耀与 LLM。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6000" y="5202000"/>
            <a:ext cx="79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954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03B"/>
                </a:solidFill>
                <a:latin typeface="Microsoft YaHei"/>
              </a:rPr>
              <a:t>3. 系统角色分工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558000"/>
            <a:ext cx="882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每一层只承担自己最擅长的职责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784800"/>
            <a:ext cx="720000" cy="288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7999" y="954000"/>
            <a:ext cx="450000" cy="756000"/>
          </a:xfrm>
          <a:prstGeom prst="roundRect">
            <a:avLst/>
          </a:prstGeom>
          <a:solidFill>
            <a:srgbClr val="FFFFFF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2799" y="1054800"/>
            <a:ext cx="324000" cy="486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5199" y="1573200"/>
            <a:ext cx="79200" cy="7920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4000" y="1512000"/>
            <a:ext cx="1655999" cy="1134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000" y="1512000"/>
            <a:ext cx="43200" cy="1134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999" y="1602000"/>
            <a:ext cx="1457999" cy="9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荣耀智慧空间 App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用户授权、家庭/房间入口、设备控制 UI、场景触发。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3999" y="1116000"/>
            <a:ext cx="612000" cy="45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74799" y="1321200"/>
            <a:ext cx="64800" cy="6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25998" y="1321200"/>
            <a:ext cx="64800" cy="6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77199" y="1321200"/>
            <a:ext cx="64800" cy="6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60000" y="1512000"/>
            <a:ext cx="1655999" cy="1134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60000" y="1512000"/>
            <a:ext cx="43200" cy="113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5999" y="1602000"/>
            <a:ext cx="1457999" cy="9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中枢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HONOR SDK 适配、权限中心、设备模型、命令总线、状态同步。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9999" y="954000"/>
            <a:ext cx="612000" cy="1368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95999" y="993600"/>
            <a:ext cx="46800" cy="4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09999" y="1126800"/>
            <a:ext cx="612000" cy="1368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95999" y="1166400"/>
            <a:ext cx="46800" cy="4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09999" y="1299600"/>
            <a:ext cx="612000" cy="1368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5999" y="1339200"/>
            <a:ext cx="46800" cy="4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996000" y="1512000"/>
            <a:ext cx="1655999" cy="1134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96000" y="1512000"/>
            <a:ext cx="43200" cy="1134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21999" y="1602000"/>
            <a:ext cx="1457999" cy="9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Node MCP Server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向 LLM 暴露工具，完成意图到设备命令的受控转换。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17999" y="1026000"/>
            <a:ext cx="468000" cy="46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33199" y="1141200"/>
            <a:ext cx="237600" cy="23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53199" y="1079999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78799" y="1079999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3199" y="11808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78799" y="11808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3199" y="12816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78799" y="12816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53199" y="13824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78799" y="1382400"/>
            <a:ext cx="72000" cy="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32000" y="1512000"/>
            <a:ext cx="1655999" cy="1134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32000" y="1512000"/>
            <a:ext cx="43200" cy="113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57999" y="1602000"/>
            <a:ext cx="1457999" cy="9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ESP32-S3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GPIO/PWM/传感器/继电器/RS485 等底层硬件执行。</a:t>
            </a:r>
          </a:p>
        </p:txBody>
      </p:sp>
      <p:sp>
        <p:nvSpPr>
          <p:cNvPr id="40" name="Oval 39"/>
          <p:cNvSpPr/>
          <p:nvPr/>
        </p:nvSpPr>
        <p:spPr>
          <a:xfrm>
            <a:off x="8171999" y="954000"/>
            <a:ext cx="432000" cy="432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90799" y="1350000"/>
            <a:ext cx="194400" cy="1512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668000" y="1512000"/>
            <a:ext cx="1655999" cy="1134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68000" y="1512000"/>
            <a:ext cx="43200" cy="113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93999" y="1602000"/>
            <a:ext cx="1457999" cy="9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IoT 设备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最终被控制或采集数据的灯、窗帘、插座、传感器等。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6000" y="5202000"/>
            <a:ext cx="79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954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03B"/>
                </a:solidFill>
                <a:latin typeface="Microsoft YaHei"/>
              </a:rPr>
              <a:t>4. 链路 A：荣耀智慧空间 App 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558000"/>
            <a:ext cx="882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用户在 App 中授权/绑定中枢后，通过中枢下发 IoT 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784800"/>
            <a:ext cx="720000" cy="288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1200" y="1440000"/>
            <a:ext cx="288000" cy="28800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835999"/>
            <a:ext cx="954000" cy="503999"/>
          </a:xfrm>
          <a:prstGeom prst="round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用户点击
打开客厅灯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9200" y="2088000"/>
            <a:ext cx="252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149200" y="1440000"/>
            <a:ext cx="288000" cy="288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8000" y="1835999"/>
            <a:ext cx="954000" cy="503999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HONOR SDK
转发控制指令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97200" y="2088000"/>
            <a:ext cx="252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07200" y="1440000"/>
            <a:ext cx="288000" cy="288000"/>
          </a:xfrm>
          <a:prstGeom prst="ellipse">
            <a:avLst/>
          </a:prstGeom>
          <a:solidFill>
            <a:srgbClr val="12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6000" y="1835999"/>
            <a:ext cx="954000" cy="503999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中枢校验
用户与设备权限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55200" y="2088000"/>
            <a:ext cx="252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065200" y="1440000"/>
            <a:ext cx="288000" cy="2880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4000" y="1835999"/>
            <a:ext cx="954000" cy="503999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协议转换
发送给执行节点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3200" y="2088000"/>
            <a:ext cx="252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523200" y="1440000"/>
            <a:ext cx="288000" cy="288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2000" y="1835999"/>
            <a:ext cx="954000" cy="503999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ESP32-S3
控制继电器/调光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71200" y="2088000"/>
            <a:ext cx="252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981200" y="1440000"/>
            <a:ext cx="288000" cy="288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50000" y="1835999"/>
            <a:ext cx="954000" cy="503999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状态回传
同步 App 展示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000" y="3240000"/>
            <a:ext cx="3708000" cy="9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0000" y="3240000"/>
            <a:ext cx="43200" cy="972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999" y="3330000"/>
            <a:ext cx="3510000" cy="82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请求示例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{"deviceId":"living_room_light", "property":"power", "value":true, "source":"honor_app"}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84000" y="3240000"/>
            <a:ext cx="3708000" cy="9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84000" y="3240000"/>
            <a:ext cx="43200" cy="9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9999" y="3330000"/>
            <a:ext cx="3510000" cy="82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结果要求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每个命令必须有 cmdId、ACK、状态回写与审计日志，确保 App 展示和设备真实状态一致。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6000" y="5202000"/>
            <a:ext cx="79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954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03B"/>
                </a:solidFill>
                <a:latin typeface="Microsoft YaHei"/>
              </a:rPr>
              <a:t>5. 链路 B：大语言模型通过 MCP 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558000"/>
            <a:ext cx="882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LLM 调用的是安全工具，不是 MQTT、GPIO 或任意代码执行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784800"/>
            <a:ext cx="720000" cy="288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6000" y="1080000"/>
            <a:ext cx="2520000" cy="57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203B"/>
                </a:solidFill>
                <a:latin typeface="Microsoft YaHei"/>
              </a:rPr>
              <a:t>“把客厅灯调暗一点，窗帘关到一半”</a:t>
            </a:r>
          </a:p>
        </p:txBody>
      </p:sp>
      <p:sp>
        <p:nvSpPr>
          <p:cNvPr id="6" name="Cloud 5"/>
          <p:cNvSpPr/>
          <p:nvPr/>
        </p:nvSpPr>
        <p:spPr>
          <a:xfrm>
            <a:off x="1260000" y="1800000"/>
            <a:ext cx="684000" cy="432000"/>
          </a:xfrm>
          <a:prstGeom prst="cloud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6800" y="1925999"/>
            <a:ext cx="43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170000"/>
            <a:ext cx="2052000" cy="3960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MCP 工具调用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34000" y="1368000"/>
            <a:ext cx="647999" cy="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4000" y="1800000"/>
            <a:ext cx="1728000" cy="25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F172A"/>
                </a:solidFill>
                <a:latin typeface="Microsoft YaHei"/>
              </a:rPr>
              <a:t>list_devices()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4000" y="2196000"/>
            <a:ext cx="1728000" cy="25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F172A"/>
                </a:solidFill>
                <a:latin typeface="Microsoft YaHei"/>
              </a:rPr>
              <a:t>get_device_state()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4000" y="2592000"/>
            <a:ext cx="1728000" cy="25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F172A"/>
                </a:solidFill>
                <a:latin typeface="Microsoft YaHei"/>
              </a:rPr>
              <a:t>set_device_property()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4000" y="2988000"/>
            <a:ext cx="1728000" cy="25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0F172A"/>
                </a:solidFill>
                <a:latin typeface="Microsoft YaHei"/>
              </a:rPr>
              <a:t>run_scene()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1944000"/>
            <a:ext cx="1944000" cy="396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中枢权限与安全策略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688000" y="2142000"/>
            <a:ext cx="774000" cy="2520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70000" y="2880000"/>
            <a:ext cx="1764000" cy="3780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IoT 设备执行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52000" y="2340000"/>
            <a:ext cx="0" cy="5220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96000" y="3851999"/>
            <a:ext cx="2628000" cy="774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6000" y="3851999"/>
            <a:ext cx="43200" cy="774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999" y="3941999"/>
            <a:ext cx="24300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安全边界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LLM 只能操作中枢返回的设备与白名单工具；高风险动作必须二次确认。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000" y="3851999"/>
            <a:ext cx="2628000" cy="774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56000" y="3851999"/>
            <a:ext cx="43200" cy="77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1999" y="3941999"/>
            <a:ext cx="24300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用户权限继承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LLM 不拥有超级管理员权限，只继承当前用户授权给中枢的可控范围。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6000" y="3851999"/>
            <a:ext cx="2628000" cy="774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16000" y="3851999"/>
            <a:ext cx="43200" cy="774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1999" y="3941999"/>
            <a:ext cx="24300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状态一致性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执行后由中枢更新状态缓存，并同步给荣耀 App 与对话侧。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6000" y="5202000"/>
            <a:ext cx="79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954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03B"/>
                </a:solidFill>
                <a:latin typeface="Microsoft YaHei"/>
              </a:rPr>
              <a:t>6. 中枢核心职责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558000"/>
            <a:ext cx="882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中枢不只是转发器，而是权限、模型、命令和状态的统一控制面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784800"/>
            <a:ext cx="720000" cy="288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80000" y="1998000"/>
            <a:ext cx="1908000" cy="450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统一命令总线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152000"/>
            <a:ext cx="2520000" cy="84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152000"/>
            <a:ext cx="43200" cy="846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242000"/>
            <a:ext cx="2322000" cy="70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设备模型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设备、房间、能力、当前状态统一抽象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52000" y="1565999"/>
            <a:ext cx="1782000" cy="648001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43999" y="1152000"/>
            <a:ext cx="2520000" cy="84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3999" y="1152000"/>
            <a:ext cx="43200" cy="84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9998" y="1242000"/>
            <a:ext cx="2322000" cy="70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权限管理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用户、家庭、房间、设备可控范围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734000" y="1565999"/>
            <a:ext cx="1709999" cy="648001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2000" y="3240000"/>
            <a:ext cx="2520000" cy="84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000" y="3240000"/>
            <a:ext cx="43200" cy="84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999" y="3330000"/>
            <a:ext cx="2322000" cy="70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协议适配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HONOR / MCP / MQTT / BLE / RS485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952000" y="2214000"/>
            <a:ext cx="1782000" cy="1439999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43999" y="3240000"/>
            <a:ext cx="2520000" cy="84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3999" y="3240000"/>
            <a:ext cx="43200" cy="84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9998" y="3330000"/>
            <a:ext cx="2322000" cy="70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审计与安全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cmdId、ACK、日志、二次确认、风控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4734000" y="2214000"/>
            <a:ext cx="1709999" cy="1439999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856000" y="5202000"/>
            <a:ext cx="79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954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03B"/>
                </a:solidFill>
                <a:latin typeface="Microsoft YaHei"/>
              </a:rPr>
              <a:t>7. ESP32-S3 执行层能否与中枢合并？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558000"/>
            <a:ext cx="882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可以合并，但关键取决于中枢硬件能否承载 HONOR SDK、Node/MCP 和权限系统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784800"/>
            <a:ext cx="720000" cy="288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152000"/>
            <a:ext cx="2880000" cy="3600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方案 A：Android / Linux 中枢 + ESP32-S3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728000"/>
            <a:ext cx="1116000" cy="3240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荣耀 SDK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5999" y="1728000"/>
            <a:ext cx="1116000" cy="3240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MCP/LLM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1999" y="1728000"/>
            <a:ext cx="1116000" cy="3240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ESP 执行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35999" y="1890000"/>
            <a:ext cx="162001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31999" y="1890000"/>
            <a:ext cx="162001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7999" y="2286000"/>
            <a:ext cx="342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推荐用于产品化与多设备扩展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职责清晰，后续可接多个 ESP32/总线节点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8000" y="1152000"/>
            <a:ext cx="2880000" cy="3600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方案 B：ESP32-S3 小型中枢 + 执行器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0" y="1728000"/>
            <a:ext cx="1152000" cy="3240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本地 HTTP/MQTT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0000" y="1728000"/>
            <a:ext cx="1152000" cy="3240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GPIO/PWM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70000" y="1890000"/>
            <a:ext cx="72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00000" y="2286000"/>
            <a:ext cx="3420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适合原型或少量继电器/传感器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通常难以直接承载完整 HONOR Connect SDK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不适合复杂 LLM、数据库与多用户权限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0000" y="4140000"/>
            <a:ext cx="5940000" cy="360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结论：要接荣耀授权与 LLM，优先保留 Android/Linux 中枢；ESP32-S3 作为执行节点更稳。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6000" y="5202000"/>
            <a:ext cx="79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954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03B"/>
                </a:solidFill>
                <a:latin typeface="Microsoft YaHei"/>
              </a:rPr>
              <a:t>8. 三种部署形态选择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558000"/>
            <a:ext cx="882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根据产品目标选择合并或分层，不必一开始做重架构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784800"/>
            <a:ext cx="720000" cy="288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4000" y="1116000"/>
            <a:ext cx="1979999" cy="306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部署形态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9999" y="1116000"/>
            <a:ext cx="2196000" cy="306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适用场景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1999" y="1116000"/>
            <a:ext cx="2520000" cy="306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优点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27999" y="1116000"/>
            <a:ext cx="2196000" cy="306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限制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0" y="1494000"/>
            <a:ext cx="1979999" cy="72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Android/Linux 中枢 + ESP32 节点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9999" y="1494000"/>
            <a:ext cx="2196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</a:rPr>
              <a:t>可扩展产品、多房间、多协议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1999" y="1494000"/>
            <a:ext cx="252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</a:rPr>
              <a:t>荣耀 SDK、Node MCP、权限和执行职责清晰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27999" y="1494000"/>
            <a:ext cx="2196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</a:rPr>
              <a:t>硬件数量更多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" y="2304000"/>
            <a:ext cx="1979999" cy="720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Android/Linux 中枢直接控设备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9999" y="2304000"/>
            <a:ext cx="2196000" cy="720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</a:rPr>
              <a:t>网关有 GPIO/RS485/Zigbee/BLE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1999" y="2304000"/>
            <a:ext cx="2520000" cy="720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</a:rPr>
              <a:t>减少 ESP32 层级，部署简单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27999" y="2304000"/>
            <a:ext cx="2196000" cy="720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</a:rPr>
              <a:t>对中枢硬件接口要求高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0" y="3114000"/>
            <a:ext cx="1979999" cy="72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ESP32-S3 小型中枢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9999" y="3114000"/>
            <a:ext cx="2196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</a:rPr>
              <a:t>单设备原型、低成本验证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1999" y="3114000"/>
            <a:ext cx="2520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</a:rPr>
              <a:t>硬件最少，执行链路短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27999" y="3114000"/>
            <a:ext cx="2196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</a:rPr>
              <a:t>难承载完整荣耀 SDK 与复杂 LLM 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6000" y="5202000"/>
            <a:ext cx="79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954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03B"/>
                </a:solidFill>
                <a:latin typeface="Microsoft YaHei"/>
              </a:rPr>
              <a:t>9. 授权与安全设计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558000"/>
            <a:ext cx="882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让 LLM 控制设备前，先建立用户授权、工具白名单和风险策略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784800"/>
            <a:ext cx="720000" cy="288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6000" y="1080000"/>
            <a:ext cx="450000" cy="756000"/>
          </a:xfrm>
          <a:prstGeom prst="roundRect">
            <a:avLst/>
          </a:prstGeom>
          <a:solidFill>
            <a:srgbClr val="FFFFFF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800" y="1180800"/>
            <a:ext cx="324000" cy="486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3200" y="1699200"/>
            <a:ext cx="79200" cy="7920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60000" y="1224000"/>
            <a:ext cx="1440000" cy="324000"/>
          </a:xfrm>
          <a:prstGeom prst="round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用户授权中枢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36000" y="1386000"/>
            <a:ext cx="792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4000" y="1224000"/>
            <a:ext cx="1440000" cy="3240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生成本地 Token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40000" y="1386000"/>
            <a:ext cx="792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68000" y="1224000"/>
            <a:ext cx="1512000" cy="324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LLM 继承用户权限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23999" y="1565999"/>
            <a:ext cx="0" cy="594001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88000" y="2178000"/>
            <a:ext cx="1872000" cy="3600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中枢策略校验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6000" y="2700000"/>
            <a:ext cx="2088000" cy="9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6000" y="2700000"/>
            <a:ext cx="43200" cy="90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999" y="2790000"/>
            <a:ext cx="189000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设备密钥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每台 ESP32-S3 使用唯一 deviceId 与 secret，MQTT/HTTP 都要认证。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00000" y="2700000"/>
            <a:ext cx="2088000" cy="9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00000" y="2700000"/>
            <a:ext cx="43200" cy="90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999" y="2790000"/>
            <a:ext cx="189000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工具白名单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LLM 只允许调用 list/get/set/run_scene 等预定义工具。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4000" y="2700000"/>
            <a:ext cx="2088000" cy="9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04000" y="2700000"/>
            <a:ext cx="43200" cy="90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9999" y="2790000"/>
            <a:ext cx="189000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高危二次确认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门锁、燃气阀、大功率插座等操作必须确认。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08000" y="2700000"/>
            <a:ext cx="1835999" cy="90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8000" y="2700000"/>
            <a:ext cx="43200" cy="900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33999" y="2790000"/>
            <a:ext cx="1637999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审计日志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记录 source、userId、cmdId、deviceId、result。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12000" y="4320000"/>
            <a:ext cx="6443999" cy="342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安全底线：大语言模型永远不应绕过中枢直接控制硬件。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6000" y="5202000"/>
            <a:ext cx="79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954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03B"/>
                </a:solidFill>
                <a:latin typeface="Microsoft YaHei"/>
              </a:rPr>
              <a:t>10. MVP 到产品化路线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558000"/>
            <a:ext cx="882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先打通最小闭环，再逐步扩展设备、协议和自动化能力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784800"/>
            <a:ext cx="720000" cy="288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0000" y="1134000"/>
            <a:ext cx="360000" cy="36000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6000" y="1872000"/>
            <a:ext cx="1908000" cy="115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6000" y="1872000"/>
            <a:ext cx="43200" cy="1152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999" y="1962000"/>
            <a:ext cx="1710000" cy="10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阶段 1
最小闭环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荣耀绑定中枢
控制一个灯/继电器
状态回传 App 与 LLM</a:t>
            </a:r>
          </a:p>
        </p:txBody>
      </p:sp>
      <p:sp>
        <p:nvSpPr>
          <p:cNvPr id="9" name="Oval 8"/>
          <p:cNvSpPr/>
          <p:nvPr/>
        </p:nvSpPr>
        <p:spPr>
          <a:xfrm>
            <a:off x="3330000" y="1134000"/>
            <a:ext cx="360000" cy="3600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46000" y="1872000"/>
            <a:ext cx="1908000" cy="115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46000" y="1872000"/>
            <a:ext cx="43200" cy="1152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1999" y="1962000"/>
            <a:ext cx="1710000" cy="10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阶段 2
多设备管理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设备注册/发现
MQTT Topic 规范
在线离线与 OTA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21999" y="2448000"/>
            <a:ext cx="306001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580000" y="1134000"/>
            <a:ext cx="360000" cy="360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6000" y="1872000"/>
            <a:ext cx="1908000" cy="115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6000" y="1872000"/>
            <a:ext cx="43200" cy="115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1999" y="1962000"/>
            <a:ext cx="1710000" cy="10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阶段 3
场景与自动化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房间/分组/场景
本地规则引擎
传感器联动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1999" y="2448000"/>
            <a:ext cx="306001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30000" y="1134000"/>
            <a:ext cx="360000" cy="360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46000" y="1872000"/>
            <a:ext cx="1908000" cy="115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46000" y="1872000"/>
            <a:ext cx="43200" cy="115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1999" y="1962000"/>
            <a:ext cx="1710000" cy="10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阶段 4
安全与运维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审计日志
高危确认
诊断与故障恢复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21999" y="2448000"/>
            <a:ext cx="306001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224000" y="3960000"/>
            <a:ext cx="7128000" cy="360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MVP 验收标准：荣耀 App 可授权并控制设备；LLM 可通过 MCP 查询/控制；设备状态可一致回传。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6000" y="5202000"/>
            <a:ext cx="79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954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03B"/>
                </a:solidFill>
                <a:latin typeface="Microsoft YaHei"/>
              </a:rPr>
              <a:t>11. 协议与数据模型建议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558000"/>
            <a:ext cx="882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使用统一设备模型屏蔽荣耀、LLM 与底层设备协议差异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784800"/>
            <a:ext cx="720000" cy="288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000" y="1080000"/>
            <a:ext cx="2664000" cy="108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" y="1080000"/>
            <a:ext cx="43200" cy="1080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999" y="1170000"/>
            <a:ext cx="2466000" cy="93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统一设备模型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id / type / room / capabilities / state
示例：light.power、brightness、colorTemperature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000" y="1080000"/>
            <a:ext cx="2664000" cy="108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000" y="1080000"/>
            <a:ext cx="43200" cy="1080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1999" y="1170000"/>
            <a:ext cx="2466000" cy="93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中枢 ↔ Node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优先 WebSocket + JSON-RPC；REST 适合配置与查询；事件使用订阅推送。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2000" y="1080000"/>
            <a:ext cx="2664000" cy="1080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52000" y="1080000"/>
            <a:ext cx="43200" cy="10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7999" y="1170000"/>
            <a:ext cx="2466000" cy="93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Node ↔ ESP32-S3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优先 MQTT；Topic：iot/{deviceId}/command、state、event、ota。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6000" y="2951999"/>
            <a:ext cx="1728000" cy="3240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HONOR 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8000" y="2951999"/>
            <a:ext cx="1728000" cy="324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中枢统一模型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0000" y="2951999"/>
            <a:ext cx="1728000" cy="3240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设备私有协议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62000" y="3114000"/>
            <a:ext cx="1008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34000" y="3114000"/>
            <a:ext cx="10080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40000" y="3780000"/>
            <a:ext cx="666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荣耀侧能力受品类与 SDK 限制，需要映射到标准设备能力。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LLM 侧只暴露人类可理解的工具与设备名称，最终仍转换成统一模型。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底层设备协议可替换，不影响荣耀 App 与 LLM 的上层体验。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6000" y="5202000"/>
            <a:ext cx="79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62000"/>
            <a:ext cx="954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03B"/>
                </a:solidFill>
                <a:latin typeface="Microsoft YaHei"/>
              </a:rPr>
              <a:t>12. 风险与待确认事项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" y="558000"/>
            <a:ext cx="882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这些点决定方案边界与实现复杂度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784800"/>
            <a:ext cx="720000" cy="288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000" y="1080000"/>
            <a:ext cx="4104000" cy="88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" y="1080000"/>
            <a:ext cx="43200" cy="882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999" y="1170000"/>
            <a:ext cx="3906000" cy="7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HONOR Connect SDK 能力边界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是否允许第三方中枢暴露自定义设备；是否需要认证、品类白名单或生态审核。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2000" y="1080000"/>
            <a:ext cx="4104000" cy="88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2000" y="1080000"/>
            <a:ext cx="43200" cy="88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57999" y="1170000"/>
            <a:ext cx="3906000" cy="7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设备模型映射限制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荣耀支持的标准品类和属性可能无法覆盖所有自定义 IoT 能力。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250000"/>
            <a:ext cx="4104000" cy="88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000" y="2250000"/>
            <a:ext cx="43200" cy="882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999" y="2340000"/>
            <a:ext cx="3906000" cy="7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本地发现与绑定流程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中枢如何被 App 发现，Node 如何发现 ESP32-S3，设备如何归属到房间。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2000" y="2250000"/>
            <a:ext cx="4104000" cy="88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2000" y="2250000"/>
            <a:ext cx="43200" cy="88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7999" y="2340000"/>
            <a:ext cx="3906000" cy="7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断网与离线控制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是否要求局域网闭环可用；云端 LLM 不可用时是否保留本地场景。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3420000"/>
            <a:ext cx="4104000" cy="88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000" y="3420000"/>
            <a:ext cx="43200" cy="88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999" y="3510000"/>
            <a:ext cx="3906000" cy="7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高风险设备策略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门锁、燃气阀、安防等必须明确二次确认、日志和回滚策略。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2000" y="3420000"/>
            <a:ext cx="4104000" cy="88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2000" y="3420000"/>
            <a:ext cx="43200" cy="882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7999" y="3510000"/>
            <a:ext cx="3906000" cy="7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运维与 OTA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ESP32-S3 固件签名、版本回滚、设备故障诊断和远程日志。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6000" y="5202000"/>
            <a:ext cx="79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360000"/>
            <a:ext cx="882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2203B"/>
                </a:solidFill>
                <a:latin typeface="Microsoft YaHei"/>
              </a:rPr>
              <a:t>推荐结论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2000" y="1116000"/>
            <a:ext cx="8568000" cy="450000"/>
          </a:xfrm>
          <a:prstGeom prst="roundRect">
            <a:avLst/>
          </a:prstGeom>
          <a:solidFill>
            <a:srgbClr val="12203B"/>
          </a:solidFill>
          <a:ln>
            <a:solidFill>
              <a:srgbClr val="122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荣耀 App 和 LLM 都是入口；中枢必须是唯一可信控制核心。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" y="2160000"/>
            <a:ext cx="2628000" cy="111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2160000"/>
            <a:ext cx="43200" cy="111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999" y="2250000"/>
            <a:ext cx="2430000" cy="9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产品化推荐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Android/Linux 中枢集成 HONOR SDK 与 Node MCP；ESP32-S3 作为可扩展执行节点。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7999" y="2160000"/>
            <a:ext cx="2628000" cy="111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47999" y="2160000"/>
            <a:ext cx="43200" cy="111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3998" y="2250000"/>
            <a:ext cx="2430000" cy="9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原型验证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可以让 ESP32-S3 做小型中枢 + 执行器，但荣耀 SDK 与 LLM 能力通常需要代理或上位机。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999" y="2160000"/>
            <a:ext cx="2628000" cy="111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999" y="2160000"/>
            <a:ext cx="43200" cy="111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9998" y="2250000"/>
            <a:ext cx="2430000" cy="9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03B"/>
                </a:solidFill>
                <a:latin typeface="Microsoft YaHei"/>
              </a:rPr>
              <a:t>安全原则</a:t>
            </a:r>
          </a:p>
          <a:p>
            <a:pPr>
              <a:spcBef>
                <a:spcPts val="800"/>
              </a:spcBef>
            </a:pPr>
            <a:r>
              <a:rPr sz="1000" b="0">
                <a:solidFill>
                  <a:srgbClr val="475569"/>
                </a:solidFill>
                <a:latin typeface="Microsoft YaHei"/>
              </a:rPr>
              <a:t>LLM 只能通过 MCP 工具进入中枢，继承用户授权，经过白名单、风控和审计。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4104000"/>
            <a:ext cx="6300000" cy="396000"/>
          </a:xfrm>
          <a:prstGeom prst="roundRect">
            <a:avLst/>
          </a:prstGeom>
          <a:solidFill>
            <a:srgbClr val="2363EB"/>
          </a:solidFill>
          <a:ln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下一步：先做“一个灯”的 MVP，验证授权、控制、状态回传与 LLM 工具调用闭环。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6000" y="5202000"/>
            <a:ext cx="792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